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Garet Bold" charset="1" panose="00000000000000000000"/>
      <p:regular r:id="rId25"/>
    </p:embeddedFont>
    <p:embeddedFont>
      <p:font typeface="Garet" charset="1" panose="00000000000000000000"/>
      <p:regular r:id="rId26"/>
    </p:embeddedFont>
    <p:embeddedFont>
      <p:font typeface="Aileron Bold" charset="1" panose="00000800000000000000"/>
      <p:regular r:id="rId27"/>
    </p:embeddedFont>
    <p:embeddedFont>
      <p:font typeface="Aileron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2273" y="8219274"/>
            <a:ext cx="2524350" cy="612496"/>
            <a:chOff x="0" y="0"/>
            <a:chExt cx="664849" cy="161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4849" cy="161316"/>
            </a:xfrm>
            <a:custGeom>
              <a:avLst/>
              <a:gdLst/>
              <a:ahLst/>
              <a:cxnLst/>
              <a:rect r="r" b="b" t="t" l="l"/>
              <a:pathLst>
                <a:path h="161316" w="664849">
                  <a:moveTo>
                    <a:pt x="80658" y="0"/>
                  </a:moveTo>
                  <a:lnTo>
                    <a:pt x="584192" y="0"/>
                  </a:lnTo>
                  <a:cubicBezTo>
                    <a:pt x="605583" y="0"/>
                    <a:pt x="626099" y="8498"/>
                    <a:pt x="641225" y="23624"/>
                  </a:cubicBezTo>
                  <a:cubicBezTo>
                    <a:pt x="656352" y="38750"/>
                    <a:pt x="664849" y="59266"/>
                    <a:pt x="664849" y="80658"/>
                  </a:cubicBezTo>
                  <a:lnTo>
                    <a:pt x="664849" y="80658"/>
                  </a:lnTo>
                  <a:cubicBezTo>
                    <a:pt x="664849" y="102050"/>
                    <a:pt x="656352" y="122565"/>
                    <a:pt x="641225" y="137692"/>
                  </a:cubicBezTo>
                  <a:cubicBezTo>
                    <a:pt x="626099" y="152818"/>
                    <a:pt x="605583" y="161316"/>
                    <a:pt x="584192" y="161316"/>
                  </a:cubicBezTo>
                  <a:lnTo>
                    <a:pt x="80658" y="161316"/>
                  </a:lnTo>
                  <a:cubicBezTo>
                    <a:pt x="59266" y="161316"/>
                    <a:pt x="38750" y="152818"/>
                    <a:pt x="23624" y="137692"/>
                  </a:cubicBezTo>
                  <a:cubicBezTo>
                    <a:pt x="8498" y="122565"/>
                    <a:pt x="0" y="102050"/>
                    <a:pt x="0" y="80658"/>
                  </a:cubicBezTo>
                  <a:lnTo>
                    <a:pt x="0" y="80658"/>
                  </a:lnTo>
                  <a:cubicBezTo>
                    <a:pt x="0" y="59266"/>
                    <a:pt x="8498" y="38750"/>
                    <a:pt x="23624" y="23624"/>
                  </a:cubicBezTo>
                  <a:cubicBezTo>
                    <a:pt x="38750" y="8498"/>
                    <a:pt x="59266" y="0"/>
                    <a:pt x="80658" y="0"/>
                  </a:cubicBezTo>
                  <a:close/>
                </a:path>
              </a:pathLst>
            </a:custGeom>
            <a:solidFill>
              <a:srgbClr val="FE65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64849" cy="208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22279" y="-1678670"/>
            <a:ext cx="13306457" cy="1330645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522930" y="1205328"/>
            <a:ext cx="5736370" cy="7320194"/>
          </a:xfrm>
          <a:custGeom>
            <a:avLst/>
            <a:gdLst/>
            <a:ahLst/>
            <a:cxnLst/>
            <a:rect r="r" b="b" t="t" l="l"/>
            <a:pathLst>
              <a:path h="7320194" w="5736370">
                <a:moveTo>
                  <a:pt x="0" y="0"/>
                </a:moveTo>
                <a:lnTo>
                  <a:pt x="5736370" y="0"/>
                </a:lnTo>
                <a:lnTo>
                  <a:pt x="5736370" y="7320194"/>
                </a:lnTo>
                <a:lnTo>
                  <a:pt x="0" y="732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86467" y="6125463"/>
            <a:ext cx="4139590" cy="2664390"/>
          </a:xfrm>
          <a:custGeom>
            <a:avLst/>
            <a:gdLst/>
            <a:ahLst/>
            <a:cxnLst/>
            <a:rect r="r" b="b" t="t" l="l"/>
            <a:pathLst>
              <a:path h="2664390" w="4139590">
                <a:moveTo>
                  <a:pt x="0" y="0"/>
                </a:moveTo>
                <a:lnTo>
                  <a:pt x="4139590" y="0"/>
                </a:lnTo>
                <a:lnTo>
                  <a:pt x="4139590" y="2664391"/>
                </a:lnTo>
                <a:lnTo>
                  <a:pt x="0" y="2664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14241" y="2269607"/>
            <a:ext cx="7972227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Capstone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2273" y="4095892"/>
            <a:ext cx="7715964" cy="137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0"/>
              </a:lnSpc>
            </a:pPr>
            <a:r>
              <a:rPr lang="en-US" sz="8029">
                <a:solidFill>
                  <a:srgbClr val="F5F5F5"/>
                </a:solidFill>
                <a:latin typeface="Garet"/>
                <a:ea typeface="Garet"/>
                <a:cs typeface="Garet"/>
                <a:sym typeface="Garet"/>
              </a:rPr>
              <a:t>ProcessTrack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14241" y="7003633"/>
            <a:ext cx="517562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5F5F5"/>
                </a:solidFill>
                <a:latin typeface="Aileron Bold"/>
                <a:ea typeface="Aileron Bold"/>
                <a:cs typeface="Aileron Bold"/>
                <a:sym typeface="Aileron Bold"/>
              </a:rPr>
              <a:t>Integrantes: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69158" y="8327085"/>
            <a:ext cx="17905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Product Owner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1214213" y="1028700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6" y="0"/>
                </a:lnTo>
                <a:lnTo>
                  <a:pt x="2428426" y="824816"/>
                </a:lnTo>
                <a:lnTo>
                  <a:pt x="0" y="8248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402053" y="8219274"/>
            <a:ext cx="2524350" cy="612496"/>
            <a:chOff x="0" y="0"/>
            <a:chExt cx="664849" cy="1613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4849" cy="161316"/>
            </a:xfrm>
            <a:custGeom>
              <a:avLst/>
              <a:gdLst/>
              <a:ahLst/>
              <a:cxnLst/>
              <a:rect r="r" b="b" t="t" l="l"/>
              <a:pathLst>
                <a:path h="161316" w="664849">
                  <a:moveTo>
                    <a:pt x="80658" y="0"/>
                  </a:moveTo>
                  <a:lnTo>
                    <a:pt x="584192" y="0"/>
                  </a:lnTo>
                  <a:cubicBezTo>
                    <a:pt x="605583" y="0"/>
                    <a:pt x="626099" y="8498"/>
                    <a:pt x="641225" y="23624"/>
                  </a:cubicBezTo>
                  <a:cubicBezTo>
                    <a:pt x="656352" y="38750"/>
                    <a:pt x="664849" y="59266"/>
                    <a:pt x="664849" y="80658"/>
                  </a:cubicBezTo>
                  <a:lnTo>
                    <a:pt x="664849" y="80658"/>
                  </a:lnTo>
                  <a:cubicBezTo>
                    <a:pt x="664849" y="102050"/>
                    <a:pt x="656352" y="122565"/>
                    <a:pt x="641225" y="137692"/>
                  </a:cubicBezTo>
                  <a:cubicBezTo>
                    <a:pt x="626099" y="152818"/>
                    <a:pt x="605583" y="161316"/>
                    <a:pt x="584192" y="161316"/>
                  </a:cubicBezTo>
                  <a:lnTo>
                    <a:pt x="80658" y="161316"/>
                  </a:lnTo>
                  <a:cubicBezTo>
                    <a:pt x="59266" y="161316"/>
                    <a:pt x="38750" y="152818"/>
                    <a:pt x="23624" y="137692"/>
                  </a:cubicBezTo>
                  <a:cubicBezTo>
                    <a:pt x="8498" y="122565"/>
                    <a:pt x="0" y="102050"/>
                    <a:pt x="0" y="80658"/>
                  </a:cubicBezTo>
                  <a:lnTo>
                    <a:pt x="0" y="80658"/>
                  </a:lnTo>
                  <a:cubicBezTo>
                    <a:pt x="0" y="59266"/>
                    <a:pt x="8498" y="38750"/>
                    <a:pt x="23624" y="23624"/>
                  </a:cubicBezTo>
                  <a:cubicBezTo>
                    <a:pt x="38750" y="8498"/>
                    <a:pt x="59266" y="0"/>
                    <a:pt x="80658" y="0"/>
                  </a:cubicBezTo>
                  <a:close/>
                </a:path>
              </a:pathLst>
            </a:custGeom>
            <a:solidFill>
              <a:srgbClr val="FE654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64849" cy="208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768937" y="8327085"/>
            <a:ext cx="17905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Scrum Master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91840" y="7587641"/>
            <a:ext cx="234521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Lukas Omeñaca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91619" y="7587641"/>
            <a:ext cx="234521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Javier Torres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702273" y="8952052"/>
            <a:ext cx="5224130" cy="612496"/>
            <a:chOff x="0" y="0"/>
            <a:chExt cx="1375903" cy="1613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5903" cy="161316"/>
            </a:xfrm>
            <a:custGeom>
              <a:avLst/>
              <a:gdLst/>
              <a:ahLst/>
              <a:cxnLst/>
              <a:rect r="r" b="b" t="t" l="l"/>
              <a:pathLst>
                <a:path h="161316" w="1375903">
                  <a:moveTo>
                    <a:pt x="80658" y="0"/>
                  </a:moveTo>
                  <a:lnTo>
                    <a:pt x="1295245" y="0"/>
                  </a:lnTo>
                  <a:cubicBezTo>
                    <a:pt x="1316636" y="0"/>
                    <a:pt x="1337152" y="8498"/>
                    <a:pt x="1352278" y="23624"/>
                  </a:cubicBezTo>
                  <a:cubicBezTo>
                    <a:pt x="1367405" y="38750"/>
                    <a:pt x="1375903" y="59266"/>
                    <a:pt x="1375903" y="80658"/>
                  </a:cubicBezTo>
                  <a:lnTo>
                    <a:pt x="1375903" y="80658"/>
                  </a:lnTo>
                  <a:cubicBezTo>
                    <a:pt x="1375903" y="102050"/>
                    <a:pt x="1367405" y="122565"/>
                    <a:pt x="1352278" y="137692"/>
                  </a:cubicBezTo>
                  <a:cubicBezTo>
                    <a:pt x="1337152" y="152818"/>
                    <a:pt x="1316636" y="161316"/>
                    <a:pt x="1295245" y="161316"/>
                  </a:cubicBezTo>
                  <a:lnTo>
                    <a:pt x="80658" y="161316"/>
                  </a:lnTo>
                  <a:cubicBezTo>
                    <a:pt x="59266" y="161316"/>
                    <a:pt x="38750" y="152818"/>
                    <a:pt x="23624" y="137692"/>
                  </a:cubicBezTo>
                  <a:cubicBezTo>
                    <a:pt x="8498" y="122565"/>
                    <a:pt x="0" y="102050"/>
                    <a:pt x="0" y="80658"/>
                  </a:cubicBezTo>
                  <a:lnTo>
                    <a:pt x="0" y="80658"/>
                  </a:lnTo>
                  <a:cubicBezTo>
                    <a:pt x="0" y="59266"/>
                    <a:pt x="8498" y="38750"/>
                    <a:pt x="23624" y="23624"/>
                  </a:cubicBezTo>
                  <a:cubicBezTo>
                    <a:pt x="38750" y="8498"/>
                    <a:pt x="59266" y="0"/>
                    <a:pt x="80658" y="0"/>
                  </a:cubicBezTo>
                  <a:close/>
                </a:path>
              </a:pathLst>
            </a:custGeom>
            <a:solidFill>
              <a:srgbClr val="FE654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375903" cy="208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448521" y="9059863"/>
            <a:ext cx="364206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Developer Team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62819" y="1545676"/>
            <a:ext cx="13306457" cy="1330645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50606" y="2653416"/>
            <a:ext cx="8296458" cy="5249395"/>
          </a:xfrm>
          <a:custGeom>
            <a:avLst/>
            <a:gdLst/>
            <a:ahLst/>
            <a:cxnLst/>
            <a:rect r="r" b="b" t="t" l="l"/>
            <a:pathLst>
              <a:path h="5249395" w="8296458">
                <a:moveTo>
                  <a:pt x="0" y="0"/>
                </a:moveTo>
                <a:lnTo>
                  <a:pt x="8296458" y="0"/>
                </a:lnTo>
                <a:lnTo>
                  <a:pt x="8296458" y="5249395"/>
                </a:lnTo>
                <a:lnTo>
                  <a:pt x="0" y="52493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993107" y="2625555"/>
            <a:ext cx="6250729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Introducción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93107" y="3971791"/>
            <a:ext cx="6456111" cy="528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En la comuna de San Joaquín, opera una empresa de maquila en envasado de sachets llamada Ictios. Actualmente, Ictios controla los registros diarios y el control de mermas en lápiz y papel, por lo que es propenso a errores. Además, el cliente no tiene cómo saber cuánto ha progresado un producto a menos que se le informe por teléfono o correo.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Este proceso genera una oportunidad para desarrollar un sistema de monitoreo en el proceso de envasado para otorgarle seguridad al cliente de que el trabajo se está realizando; Y optimiza el proceso de control de mermas y de progreso.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50851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695155" y="0"/>
                </a:moveTo>
                <a:lnTo>
                  <a:pt x="0" y="0"/>
                </a:lnTo>
                <a:lnTo>
                  <a:pt x="0" y="775528"/>
                </a:lnTo>
                <a:lnTo>
                  <a:pt x="695155" y="775528"/>
                </a:lnTo>
                <a:lnTo>
                  <a:pt x="6951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35960" y="-3779318"/>
            <a:ext cx="13306457" cy="1330645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54356" y="1545676"/>
            <a:ext cx="4945524" cy="6766264"/>
          </a:xfrm>
          <a:custGeom>
            <a:avLst/>
            <a:gdLst/>
            <a:ahLst/>
            <a:cxnLst/>
            <a:rect r="r" b="b" t="t" l="l"/>
            <a:pathLst>
              <a:path h="6766264" w="4945524">
                <a:moveTo>
                  <a:pt x="0" y="0"/>
                </a:moveTo>
                <a:lnTo>
                  <a:pt x="4945523" y="0"/>
                </a:lnTo>
                <a:lnTo>
                  <a:pt x="4945523" y="6766264"/>
                </a:lnTo>
                <a:lnTo>
                  <a:pt x="0" y="6766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27813" y="2873911"/>
            <a:ext cx="3261376" cy="5570674"/>
          </a:xfrm>
          <a:custGeom>
            <a:avLst/>
            <a:gdLst/>
            <a:ahLst/>
            <a:cxnLst/>
            <a:rect r="r" b="b" t="t" l="l"/>
            <a:pathLst>
              <a:path h="5570674" w="3261376">
                <a:moveTo>
                  <a:pt x="0" y="0"/>
                </a:moveTo>
                <a:lnTo>
                  <a:pt x="3261376" y="0"/>
                </a:lnTo>
                <a:lnTo>
                  <a:pt x="3261376" y="5570674"/>
                </a:lnTo>
                <a:lnTo>
                  <a:pt x="0" y="55706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41667" y="1555201"/>
            <a:ext cx="5089068" cy="195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Propuesta de solución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1667" y="4037178"/>
            <a:ext cx="5433436" cy="422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Se diseñara y desarrollara un sistema, que permita a empresas cliente coordinarse de mejor manera con empresas de maquila para realizar sus pedidos.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Esto se lograra otorgando la posibilidad de buscar empresas de maquila, ver sus perfiles y realizar un pedido, asi como seguir el proceso de este con actualizaciones periodicas que realizara la empresa de maquila.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6023026">
            <a:off x="-3627572" y="2461264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151288" y="812026"/>
            <a:ext cx="4370331" cy="2288464"/>
          </a:xfrm>
          <a:custGeom>
            <a:avLst/>
            <a:gdLst/>
            <a:ahLst/>
            <a:cxnLst/>
            <a:rect r="r" b="b" t="t" l="l"/>
            <a:pathLst>
              <a:path h="2288464" w="4370331">
                <a:moveTo>
                  <a:pt x="0" y="0"/>
                </a:moveTo>
                <a:lnTo>
                  <a:pt x="4370331" y="0"/>
                </a:lnTo>
                <a:lnTo>
                  <a:pt x="4370331" y="2288464"/>
                </a:lnTo>
                <a:lnTo>
                  <a:pt x="0" y="2288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10540" y="1040430"/>
            <a:ext cx="5936806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Objetivos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6571" y="4418317"/>
            <a:ext cx="4199046" cy="316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Desarrollar una plataforma web responsive que permita gestionar y realizar seguimiento del proceso de producción de pedidos de maquila, facilitando la comunicación entre empresas de maquila y sus clientes, y proporcionando información actualizada sobre el estado y progreso de las órdenes.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66478" y="4517253"/>
            <a:ext cx="4257606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Diseñar una plataforma que permita gestionar cuentas de empresas cliente y empresas de maquila, considerando diferentes roles y niveles de acceso.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140331" y="4517253"/>
            <a:ext cx="4521127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Implementar un sistema de gestión de pedidos que permita a las empresas cliente realizar órdenes de compra, y a las empresas de maquila aceptar, rechazar e iniciar dichos pedidos.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746571" y="3319652"/>
            <a:ext cx="2968403" cy="41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443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General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65967" y="3319652"/>
            <a:ext cx="2968403" cy="41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443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Específicos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66478" y="6959573"/>
            <a:ext cx="4339902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Desarrollar un mecanismo de seguimiento que permita a las empresas de maquila registrar y actualizar periódicamente el progreso de los pedidos en producción.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40331" y="6959573"/>
            <a:ext cx="4486285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Incorporar una herramienta de cálculo y generación de estadísticas que permitan estimar las mermas asociadas a los pedidos y evaluar el cumplimiento de las fechas estimadas de finalización.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166478" y="4114827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5"/>
                </a:lnTo>
                <a:lnTo>
                  <a:pt x="0" y="35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166478" y="6560833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5"/>
                </a:lnTo>
                <a:lnTo>
                  <a:pt x="0" y="35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140331" y="4114827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7" y="0"/>
                </a:lnTo>
                <a:lnTo>
                  <a:pt x="314087" y="351115"/>
                </a:lnTo>
                <a:lnTo>
                  <a:pt x="0" y="35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140331" y="6560833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7" y="0"/>
                </a:lnTo>
                <a:lnTo>
                  <a:pt x="314087" y="351115"/>
                </a:lnTo>
                <a:lnTo>
                  <a:pt x="0" y="35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85047" y="-9665484"/>
            <a:ext cx="13306457" cy="1330645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 descr="Computer Button Power One Color Silhouette   Style Icon"/>
          <p:cNvSpPr/>
          <p:nvPr/>
        </p:nvSpPr>
        <p:spPr>
          <a:xfrm flipH="false" flipV="false" rot="0">
            <a:off x="16139571" y="1194562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40029" y="1676219"/>
            <a:ext cx="4508987" cy="6850670"/>
          </a:xfrm>
          <a:custGeom>
            <a:avLst/>
            <a:gdLst/>
            <a:ahLst/>
            <a:cxnLst/>
            <a:rect r="r" b="b" t="t" l="l"/>
            <a:pathLst>
              <a:path h="6850670" w="4508987">
                <a:moveTo>
                  <a:pt x="0" y="0"/>
                </a:moveTo>
                <a:lnTo>
                  <a:pt x="4508986" y="0"/>
                </a:lnTo>
                <a:lnTo>
                  <a:pt x="4508986" y="6850670"/>
                </a:lnTo>
                <a:lnTo>
                  <a:pt x="0" y="68506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10540" y="1600019"/>
            <a:ext cx="8093010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Metodología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10540" y="3909171"/>
            <a:ext cx="5393363" cy="387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Se utilizara el marco de trabajo scrum, ya que consideramos que la alta flexibilidad que este aporta será beneficiosa para nuestro proyecto.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Permitiendo trabajar de forma iterativa, con avances constantes que nos permitan determinar el estado actual de nuetro proyecto.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Si bien es cierto, Scrum no es una metodologia como tal, sera nuestro marco de trabajo durante el desarrollo de este proyecto.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51369" y="-1441128"/>
            <a:ext cx="13926533" cy="139265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700" y="4968099"/>
            <a:ext cx="162306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206904" y="4745941"/>
            <a:ext cx="444315" cy="444315"/>
          </a:xfrm>
          <a:custGeom>
            <a:avLst/>
            <a:gdLst/>
            <a:ahLst/>
            <a:cxnLst/>
            <a:rect r="r" b="b" t="t" l="l"/>
            <a:pathLst>
              <a:path h="444315" w="444315">
                <a:moveTo>
                  <a:pt x="0" y="0"/>
                </a:moveTo>
                <a:lnTo>
                  <a:pt x="444315" y="0"/>
                </a:lnTo>
                <a:lnTo>
                  <a:pt x="444315" y="444316"/>
                </a:lnTo>
                <a:lnTo>
                  <a:pt x="0" y="444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5398983" y="401638"/>
            <a:ext cx="7490034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Plan de trabajo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4859" y="3067536"/>
            <a:ext cx="184840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Planificación de proyecto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16182" y="3067536"/>
            <a:ext cx="1992452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Definición de historias de usuario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83753" y="6079228"/>
            <a:ext cx="1767972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Desarrollo de mockups y diagramas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65812" y="6079228"/>
            <a:ext cx="1582531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Presentación avances (Fase 1)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74752" y="6079228"/>
            <a:ext cx="114333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Sprint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19421" y="3067536"/>
            <a:ext cx="114333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Sprint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64090" y="6079228"/>
            <a:ext cx="114333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Sprint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08760" y="3067536"/>
            <a:ext cx="114333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Sprint 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73241" y="6079228"/>
            <a:ext cx="1282384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Revisiones finales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53429" y="6075145"/>
            <a:ext cx="114333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Sprint 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39292" y="3067536"/>
            <a:ext cx="156301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Diseño plan de pruebas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88258" y="3067536"/>
            <a:ext cx="1563011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Presentación avances (Fase 2)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362957" y="3110816"/>
            <a:ext cx="159229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Presentación (Fase 3)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3345581" y="4745941"/>
            <a:ext cx="444315" cy="444315"/>
          </a:xfrm>
          <a:custGeom>
            <a:avLst/>
            <a:gdLst/>
            <a:ahLst/>
            <a:cxnLst/>
            <a:rect r="r" b="b" t="t" l="l"/>
            <a:pathLst>
              <a:path h="444315" w="444315">
                <a:moveTo>
                  <a:pt x="0" y="0"/>
                </a:moveTo>
                <a:lnTo>
                  <a:pt x="444316" y="0"/>
                </a:lnTo>
                <a:lnTo>
                  <a:pt x="444316" y="444316"/>
                </a:lnTo>
                <a:lnTo>
                  <a:pt x="0" y="444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4490251" y="4735698"/>
            <a:ext cx="444315" cy="444315"/>
          </a:xfrm>
          <a:custGeom>
            <a:avLst/>
            <a:gdLst/>
            <a:ahLst/>
            <a:cxnLst/>
            <a:rect r="r" b="b" t="t" l="l"/>
            <a:pathLst>
              <a:path h="444315" w="444315">
                <a:moveTo>
                  <a:pt x="0" y="0"/>
                </a:moveTo>
                <a:lnTo>
                  <a:pt x="444315" y="0"/>
                </a:lnTo>
                <a:lnTo>
                  <a:pt x="444315" y="444316"/>
                </a:lnTo>
                <a:lnTo>
                  <a:pt x="0" y="444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5634920" y="4745941"/>
            <a:ext cx="444315" cy="444315"/>
          </a:xfrm>
          <a:custGeom>
            <a:avLst/>
            <a:gdLst/>
            <a:ahLst/>
            <a:cxnLst/>
            <a:rect r="r" b="b" t="t" l="l"/>
            <a:pathLst>
              <a:path h="444315" w="444315">
                <a:moveTo>
                  <a:pt x="0" y="0"/>
                </a:moveTo>
                <a:lnTo>
                  <a:pt x="444315" y="0"/>
                </a:lnTo>
                <a:lnTo>
                  <a:pt x="444315" y="444316"/>
                </a:lnTo>
                <a:lnTo>
                  <a:pt x="0" y="4443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6779589" y="4735698"/>
            <a:ext cx="444315" cy="444315"/>
          </a:xfrm>
          <a:custGeom>
            <a:avLst/>
            <a:gdLst/>
            <a:ahLst/>
            <a:cxnLst/>
            <a:rect r="r" b="b" t="t" l="l"/>
            <a:pathLst>
              <a:path h="444315" w="444315">
                <a:moveTo>
                  <a:pt x="0" y="0"/>
                </a:moveTo>
                <a:lnTo>
                  <a:pt x="444316" y="0"/>
                </a:lnTo>
                <a:lnTo>
                  <a:pt x="444316" y="444316"/>
                </a:lnTo>
                <a:lnTo>
                  <a:pt x="0" y="444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7924259" y="4745941"/>
            <a:ext cx="444315" cy="444315"/>
          </a:xfrm>
          <a:custGeom>
            <a:avLst/>
            <a:gdLst/>
            <a:ahLst/>
            <a:cxnLst/>
            <a:rect r="r" b="b" t="t" l="l"/>
            <a:pathLst>
              <a:path h="444315" w="444315">
                <a:moveTo>
                  <a:pt x="0" y="0"/>
                </a:moveTo>
                <a:lnTo>
                  <a:pt x="444315" y="0"/>
                </a:lnTo>
                <a:lnTo>
                  <a:pt x="444315" y="444316"/>
                </a:lnTo>
                <a:lnTo>
                  <a:pt x="0" y="444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9068928" y="4745941"/>
            <a:ext cx="444315" cy="444315"/>
          </a:xfrm>
          <a:custGeom>
            <a:avLst/>
            <a:gdLst/>
            <a:ahLst/>
            <a:cxnLst/>
            <a:rect r="r" b="b" t="t" l="l"/>
            <a:pathLst>
              <a:path h="444315" w="444315">
                <a:moveTo>
                  <a:pt x="0" y="0"/>
                </a:moveTo>
                <a:lnTo>
                  <a:pt x="444316" y="0"/>
                </a:lnTo>
                <a:lnTo>
                  <a:pt x="444316" y="444316"/>
                </a:lnTo>
                <a:lnTo>
                  <a:pt x="0" y="444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10213598" y="4735698"/>
            <a:ext cx="444315" cy="444315"/>
          </a:xfrm>
          <a:custGeom>
            <a:avLst/>
            <a:gdLst/>
            <a:ahLst/>
            <a:cxnLst/>
            <a:rect r="r" b="b" t="t" l="l"/>
            <a:pathLst>
              <a:path h="444315" w="444315">
                <a:moveTo>
                  <a:pt x="0" y="0"/>
                </a:moveTo>
                <a:lnTo>
                  <a:pt x="444315" y="0"/>
                </a:lnTo>
                <a:lnTo>
                  <a:pt x="444315" y="444316"/>
                </a:lnTo>
                <a:lnTo>
                  <a:pt x="0" y="444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12502936" y="4735698"/>
            <a:ext cx="444315" cy="444315"/>
          </a:xfrm>
          <a:custGeom>
            <a:avLst/>
            <a:gdLst/>
            <a:ahLst/>
            <a:cxnLst/>
            <a:rect r="r" b="b" t="t" l="l"/>
            <a:pathLst>
              <a:path h="444315" w="444315">
                <a:moveTo>
                  <a:pt x="0" y="0"/>
                </a:moveTo>
                <a:lnTo>
                  <a:pt x="444316" y="0"/>
                </a:lnTo>
                <a:lnTo>
                  <a:pt x="444316" y="444316"/>
                </a:lnTo>
                <a:lnTo>
                  <a:pt x="0" y="444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1358267" y="4745941"/>
            <a:ext cx="444315" cy="444315"/>
          </a:xfrm>
          <a:custGeom>
            <a:avLst/>
            <a:gdLst/>
            <a:ahLst/>
            <a:cxnLst/>
            <a:rect r="r" b="b" t="t" l="l"/>
            <a:pathLst>
              <a:path h="444315" w="444315">
                <a:moveTo>
                  <a:pt x="0" y="0"/>
                </a:moveTo>
                <a:lnTo>
                  <a:pt x="444315" y="0"/>
                </a:lnTo>
                <a:lnTo>
                  <a:pt x="444315" y="444316"/>
                </a:lnTo>
                <a:lnTo>
                  <a:pt x="0" y="444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3647606" y="4745941"/>
            <a:ext cx="444315" cy="444315"/>
          </a:xfrm>
          <a:custGeom>
            <a:avLst/>
            <a:gdLst/>
            <a:ahLst/>
            <a:cxnLst/>
            <a:rect r="r" b="b" t="t" l="l"/>
            <a:pathLst>
              <a:path h="444315" w="444315">
                <a:moveTo>
                  <a:pt x="0" y="0"/>
                </a:moveTo>
                <a:lnTo>
                  <a:pt x="444315" y="0"/>
                </a:lnTo>
                <a:lnTo>
                  <a:pt x="444315" y="444316"/>
                </a:lnTo>
                <a:lnTo>
                  <a:pt x="0" y="444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14792275" y="4745941"/>
            <a:ext cx="444315" cy="444315"/>
          </a:xfrm>
          <a:custGeom>
            <a:avLst/>
            <a:gdLst/>
            <a:ahLst/>
            <a:cxnLst/>
            <a:rect r="r" b="b" t="t" l="l"/>
            <a:pathLst>
              <a:path h="444315" w="444315">
                <a:moveTo>
                  <a:pt x="0" y="0"/>
                </a:moveTo>
                <a:lnTo>
                  <a:pt x="444316" y="0"/>
                </a:lnTo>
                <a:lnTo>
                  <a:pt x="444316" y="444316"/>
                </a:lnTo>
                <a:lnTo>
                  <a:pt x="0" y="444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15936944" y="4745941"/>
            <a:ext cx="444315" cy="444315"/>
          </a:xfrm>
          <a:custGeom>
            <a:avLst/>
            <a:gdLst/>
            <a:ahLst/>
            <a:cxnLst/>
            <a:rect r="r" b="b" t="t" l="l"/>
            <a:pathLst>
              <a:path h="444315" w="444315">
                <a:moveTo>
                  <a:pt x="0" y="0"/>
                </a:moveTo>
                <a:lnTo>
                  <a:pt x="444316" y="0"/>
                </a:lnTo>
                <a:lnTo>
                  <a:pt x="444316" y="444316"/>
                </a:lnTo>
                <a:lnTo>
                  <a:pt x="0" y="444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4" id="34"/>
          <p:cNvSpPr/>
          <p:nvPr/>
        </p:nvSpPr>
        <p:spPr>
          <a:xfrm flipV="true">
            <a:off x="2429061" y="4374216"/>
            <a:ext cx="0" cy="37172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 flipV="true">
            <a:off x="4712408" y="4374216"/>
            <a:ext cx="0" cy="63524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 flipV="true">
            <a:off x="7001747" y="4374216"/>
            <a:ext cx="0" cy="63524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7" id="37"/>
          <p:cNvSpPr/>
          <p:nvPr/>
        </p:nvSpPr>
        <p:spPr>
          <a:xfrm flipV="true">
            <a:off x="9291086" y="4374216"/>
            <a:ext cx="0" cy="37172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8" id="38"/>
          <p:cNvSpPr/>
          <p:nvPr/>
        </p:nvSpPr>
        <p:spPr>
          <a:xfrm flipV="true">
            <a:off x="11572313" y="4374216"/>
            <a:ext cx="0" cy="37172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9" id="39"/>
          <p:cNvSpPr/>
          <p:nvPr/>
        </p:nvSpPr>
        <p:spPr>
          <a:xfrm flipV="true">
            <a:off x="13871177" y="4374216"/>
            <a:ext cx="0" cy="37172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 flipV="true">
            <a:off x="16170041" y="4374216"/>
            <a:ext cx="0" cy="37172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1" id="41"/>
          <p:cNvSpPr/>
          <p:nvPr/>
        </p:nvSpPr>
        <p:spPr>
          <a:xfrm>
            <a:off x="3567739" y="5180014"/>
            <a:ext cx="0" cy="34212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>
            <a:off x="5857078" y="5182016"/>
            <a:ext cx="0" cy="342125"/>
          </a:xfrm>
          <a:prstGeom prst="line">
            <a:avLst/>
          </a:prstGeom>
          <a:ln cap="flat" w="38100">
            <a:solidFill>
              <a:srgbClr val="FFDE5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>
            <a:off x="8146417" y="5190257"/>
            <a:ext cx="0" cy="34212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>
            <a:off x="10437169" y="5180014"/>
            <a:ext cx="0" cy="34212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5" id="45"/>
          <p:cNvSpPr/>
          <p:nvPr/>
        </p:nvSpPr>
        <p:spPr>
          <a:xfrm>
            <a:off x="12726507" y="5182016"/>
            <a:ext cx="0" cy="34212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6" id="46"/>
          <p:cNvSpPr/>
          <p:nvPr/>
        </p:nvSpPr>
        <p:spPr>
          <a:xfrm>
            <a:off x="15015846" y="5182016"/>
            <a:ext cx="0" cy="34212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24734" y="-1821184"/>
            <a:ext cx="13926533" cy="139265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25506" y="1370119"/>
            <a:ext cx="6416954" cy="7525212"/>
          </a:xfrm>
          <a:custGeom>
            <a:avLst/>
            <a:gdLst/>
            <a:ahLst/>
            <a:cxnLst/>
            <a:rect r="r" b="b" t="t" l="l"/>
            <a:pathLst>
              <a:path h="7525212" w="6416954">
                <a:moveTo>
                  <a:pt x="0" y="0"/>
                </a:moveTo>
                <a:lnTo>
                  <a:pt x="6416953" y="0"/>
                </a:lnTo>
                <a:lnTo>
                  <a:pt x="6416953" y="7525212"/>
                </a:lnTo>
                <a:lnTo>
                  <a:pt x="0" y="7525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90091" y="2831032"/>
            <a:ext cx="529511" cy="529511"/>
          </a:xfrm>
          <a:custGeom>
            <a:avLst/>
            <a:gdLst/>
            <a:ahLst/>
            <a:cxnLst/>
            <a:rect r="r" b="b" t="t" l="l"/>
            <a:pathLst>
              <a:path h="529511" w="529511">
                <a:moveTo>
                  <a:pt x="0" y="0"/>
                </a:moveTo>
                <a:lnTo>
                  <a:pt x="529511" y="0"/>
                </a:lnTo>
                <a:lnTo>
                  <a:pt x="529511" y="529511"/>
                </a:lnTo>
                <a:lnTo>
                  <a:pt x="0" y="529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90091" y="4137301"/>
            <a:ext cx="529511" cy="529511"/>
          </a:xfrm>
          <a:custGeom>
            <a:avLst/>
            <a:gdLst/>
            <a:ahLst/>
            <a:cxnLst/>
            <a:rect r="r" b="b" t="t" l="l"/>
            <a:pathLst>
              <a:path h="529511" w="529511">
                <a:moveTo>
                  <a:pt x="0" y="0"/>
                </a:moveTo>
                <a:lnTo>
                  <a:pt x="529511" y="0"/>
                </a:lnTo>
                <a:lnTo>
                  <a:pt x="529511" y="529511"/>
                </a:lnTo>
                <a:lnTo>
                  <a:pt x="0" y="529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01653" y="3369541"/>
            <a:ext cx="625083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Visual Studio Code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01653" y="4512479"/>
            <a:ext cx="6250836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Visual Studio Code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SonarQube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Katalon Studio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Tenable Nessus Essentials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Apache jmeter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901653" y="2764357"/>
            <a:ext cx="352742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E6544"/>
                </a:solidFill>
                <a:latin typeface="Aileron Bold"/>
                <a:ea typeface="Aileron Bold"/>
                <a:cs typeface="Aileron Bold"/>
                <a:sym typeface="Aileron Bold"/>
              </a:rPr>
              <a:t>Desarrollo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01653" y="4118251"/>
            <a:ext cx="352742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E6544"/>
                </a:solidFill>
                <a:latin typeface="Aileron Bold"/>
                <a:ea typeface="Aileron Bold"/>
                <a:cs typeface="Aileron Bold"/>
                <a:sym typeface="Aileron Bold"/>
              </a:rPr>
              <a:t>Pruebas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11553" y="1177166"/>
            <a:ext cx="8248277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Stack Tecnológico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990091" y="6681004"/>
            <a:ext cx="529511" cy="529511"/>
          </a:xfrm>
          <a:custGeom>
            <a:avLst/>
            <a:gdLst/>
            <a:ahLst/>
            <a:cxnLst/>
            <a:rect r="r" b="b" t="t" l="l"/>
            <a:pathLst>
              <a:path h="529511" w="529511">
                <a:moveTo>
                  <a:pt x="0" y="0"/>
                </a:moveTo>
                <a:lnTo>
                  <a:pt x="529511" y="0"/>
                </a:lnTo>
                <a:lnTo>
                  <a:pt x="529511" y="529511"/>
                </a:lnTo>
                <a:lnTo>
                  <a:pt x="0" y="529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901653" y="7304030"/>
            <a:ext cx="625083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Figma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01653" y="6661954"/>
            <a:ext cx="352742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E6544"/>
                </a:solidFill>
                <a:latin typeface="Aileron Bold"/>
                <a:ea typeface="Aileron Bold"/>
                <a:cs typeface="Aileron Bold"/>
                <a:sym typeface="Aileron Bold"/>
              </a:rPr>
              <a:t>Mockups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981602" y="8062855"/>
            <a:ext cx="529511" cy="529511"/>
          </a:xfrm>
          <a:custGeom>
            <a:avLst/>
            <a:gdLst/>
            <a:ahLst/>
            <a:cxnLst/>
            <a:rect r="r" b="b" t="t" l="l"/>
            <a:pathLst>
              <a:path h="529511" w="529511">
                <a:moveTo>
                  <a:pt x="0" y="0"/>
                </a:moveTo>
                <a:lnTo>
                  <a:pt x="529511" y="0"/>
                </a:lnTo>
                <a:lnTo>
                  <a:pt x="529511" y="529511"/>
                </a:lnTo>
                <a:lnTo>
                  <a:pt x="0" y="529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893164" y="8652135"/>
            <a:ext cx="6250836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Miro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Draw.io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93164" y="8043805"/>
            <a:ext cx="352742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E6544"/>
                </a:solidFill>
                <a:latin typeface="Aileron Bold"/>
                <a:ea typeface="Aileron Bold"/>
                <a:cs typeface="Aileron Bold"/>
                <a:sym typeface="Aileron Bold"/>
              </a:rPr>
              <a:t>Diagramas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20095" y="-3948870"/>
            <a:ext cx="13926533" cy="139265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097495" y="4573905"/>
            <a:ext cx="8093010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Mockups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9672841" y="-2957108"/>
            <a:ext cx="13926533" cy="1392653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9698" y="-1921798"/>
            <a:ext cx="14130596" cy="1413059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7530" y="979413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7" y="0"/>
                </a:lnTo>
                <a:lnTo>
                  <a:pt x="2428427" y="824815"/>
                </a:lnTo>
                <a:lnTo>
                  <a:pt x="0" y="824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86638" y="1691440"/>
            <a:ext cx="9514723" cy="6904121"/>
          </a:xfrm>
          <a:custGeom>
            <a:avLst/>
            <a:gdLst/>
            <a:ahLst/>
            <a:cxnLst/>
            <a:rect r="r" b="b" t="t" l="l"/>
            <a:pathLst>
              <a:path h="6904121" w="9514723">
                <a:moveTo>
                  <a:pt x="0" y="0"/>
                </a:moveTo>
                <a:lnTo>
                  <a:pt x="9514724" y="0"/>
                </a:lnTo>
                <a:lnTo>
                  <a:pt x="9514724" y="6904120"/>
                </a:lnTo>
                <a:lnTo>
                  <a:pt x="0" y="69041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9698" y="-1921798"/>
            <a:ext cx="14130596" cy="1413059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7530" y="979413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7" y="0"/>
                </a:lnTo>
                <a:lnTo>
                  <a:pt x="2428427" y="824815"/>
                </a:lnTo>
                <a:lnTo>
                  <a:pt x="0" y="824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91999" y="1708975"/>
            <a:ext cx="9504002" cy="6869049"/>
          </a:xfrm>
          <a:custGeom>
            <a:avLst/>
            <a:gdLst/>
            <a:ahLst/>
            <a:cxnLst/>
            <a:rect r="r" b="b" t="t" l="l"/>
            <a:pathLst>
              <a:path h="6869049" w="9504002">
                <a:moveTo>
                  <a:pt x="0" y="0"/>
                </a:moveTo>
                <a:lnTo>
                  <a:pt x="9504002" y="0"/>
                </a:lnTo>
                <a:lnTo>
                  <a:pt x="9504002" y="6869050"/>
                </a:lnTo>
                <a:lnTo>
                  <a:pt x="0" y="6869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9698" y="-1921798"/>
            <a:ext cx="14130596" cy="1413059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7530" y="979413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7" y="0"/>
                </a:lnTo>
                <a:lnTo>
                  <a:pt x="2428427" y="824815"/>
                </a:lnTo>
                <a:lnTo>
                  <a:pt x="0" y="824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5630" y="2184088"/>
            <a:ext cx="8162459" cy="5918824"/>
          </a:xfrm>
          <a:custGeom>
            <a:avLst/>
            <a:gdLst/>
            <a:ahLst/>
            <a:cxnLst/>
            <a:rect r="r" b="b" t="t" l="l"/>
            <a:pathLst>
              <a:path h="5918824" w="8162459">
                <a:moveTo>
                  <a:pt x="0" y="0"/>
                </a:moveTo>
                <a:lnTo>
                  <a:pt x="8162459" y="0"/>
                </a:lnTo>
                <a:lnTo>
                  <a:pt x="8162459" y="5918824"/>
                </a:lnTo>
                <a:lnTo>
                  <a:pt x="0" y="59188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792375" y="2195332"/>
            <a:ext cx="8162459" cy="5907579"/>
          </a:xfrm>
          <a:custGeom>
            <a:avLst/>
            <a:gdLst/>
            <a:ahLst/>
            <a:cxnLst/>
            <a:rect r="r" b="b" t="t" l="l"/>
            <a:pathLst>
              <a:path h="5907579" w="8162459">
                <a:moveTo>
                  <a:pt x="0" y="0"/>
                </a:moveTo>
                <a:lnTo>
                  <a:pt x="8162458" y="0"/>
                </a:lnTo>
                <a:lnTo>
                  <a:pt x="8162458" y="5907580"/>
                </a:lnTo>
                <a:lnTo>
                  <a:pt x="0" y="590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9698" y="-1921798"/>
            <a:ext cx="14130596" cy="1413059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7530" y="979413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7" y="0"/>
                </a:lnTo>
                <a:lnTo>
                  <a:pt x="2428427" y="824815"/>
                </a:lnTo>
                <a:lnTo>
                  <a:pt x="0" y="824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12616" y="1718908"/>
            <a:ext cx="9462768" cy="6849183"/>
          </a:xfrm>
          <a:custGeom>
            <a:avLst/>
            <a:gdLst/>
            <a:ahLst/>
            <a:cxnLst/>
            <a:rect r="r" b="b" t="t" l="l"/>
            <a:pathLst>
              <a:path h="6849183" w="9462768">
                <a:moveTo>
                  <a:pt x="0" y="0"/>
                </a:moveTo>
                <a:lnTo>
                  <a:pt x="9462768" y="0"/>
                </a:lnTo>
                <a:lnTo>
                  <a:pt x="9462768" y="6849184"/>
                </a:lnTo>
                <a:lnTo>
                  <a:pt x="0" y="68491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9698" y="-1921798"/>
            <a:ext cx="14130596" cy="1413059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7530" y="979413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7" y="0"/>
                </a:lnTo>
                <a:lnTo>
                  <a:pt x="2428427" y="824815"/>
                </a:lnTo>
                <a:lnTo>
                  <a:pt x="0" y="824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5304" y="2225355"/>
            <a:ext cx="8054493" cy="5836291"/>
          </a:xfrm>
          <a:custGeom>
            <a:avLst/>
            <a:gdLst/>
            <a:ahLst/>
            <a:cxnLst/>
            <a:rect r="r" b="b" t="t" l="l"/>
            <a:pathLst>
              <a:path h="5836291" w="8054493">
                <a:moveTo>
                  <a:pt x="0" y="0"/>
                </a:moveTo>
                <a:lnTo>
                  <a:pt x="8054493" y="0"/>
                </a:lnTo>
                <a:lnTo>
                  <a:pt x="8054493" y="5836290"/>
                </a:lnTo>
                <a:lnTo>
                  <a:pt x="0" y="58362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37887" y="2225355"/>
            <a:ext cx="8061602" cy="5836291"/>
          </a:xfrm>
          <a:custGeom>
            <a:avLst/>
            <a:gdLst/>
            <a:ahLst/>
            <a:cxnLst/>
            <a:rect r="r" b="b" t="t" l="l"/>
            <a:pathLst>
              <a:path h="5836291" w="8061602">
                <a:moveTo>
                  <a:pt x="0" y="0"/>
                </a:moveTo>
                <a:lnTo>
                  <a:pt x="8061602" y="0"/>
                </a:lnTo>
                <a:lnTo>
                  <a:pt x="8061602" y="5836290"/>
                </a:lnTo>
                <a:lnTo>
                  <a:pt x="0" y="58362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9698" y="-1921798"/>
            <a:ext cx="14130596" cy="1413059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7530" y="979413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7" y="0"/>
                </a:lnTo>
                <a:lnTo>
                  <a:pt x="2428427" y="824815"/>
                </a:lnTo>
                <a:lnTo>
                  <a:pt x="0" y="824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72716" y="1760736"/>
            <a:ext cx="9342569" cy="6765529"/>
          </a:xfrm>
          <a:custGeom>
            <a:avLst/>
            <a:gdLst/>
            <a:ahLst/>
            <a:cxnLst/>
            <a:rect r="r" b="b" t="t" l="l"/>
            <a:pathLst>
              <a:path h="6765529" w="9342569">
                <a:moveTo>
                  <a:pt x="0" y="0"/>
                </a:moveTo>
                <a:lnTo>
                  <a:pt x="9342568" y="0"/>
                </a:lnTo>
                <a:lnTo>
                  <a:pt x="9342568" y="6765528"/>
                </a:lnTo>
                <a:lnTo>
                  <a:pt x="0" y="67655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08096" y="-6359596"/>
            <a:ext cx="13926533" cy="139265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9477641" y="1747224"/>
            <a:ext cx="13926533" cy="139265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49284" y="2775662"/>
            <a:ext cx="15589433" cy="6482638"/>
          </a:xfrm>
          <a:custGeom>
            <a:avLst/>
            <a:gdLst/>
            <a:ahLst/>
            <a:cxnLst/>
            <a:rect r="r" b="b" t="t" l="l"/>
            <a:pathLst>
              <a:path h="6482638" w="15589433">
                <a:moveTo>
                  <a:pt x="0" y="0"/>
                </a:moveTo>
                <a:lnTo>
                  <a:pt x="15589432" y="0"/>
                </a:lnTo>
                <a:lnTo>
                  <a:pt x="15589432" y="6482638"/>
                </a:lnTo>
                <a:lnTo>
                  <a:pt x="0" y="64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4502133" y="952500"/>
            <a:ext cx="9283734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Priorización Backlog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62340" y="-4095270"/>
            <a:ext cx="13926533" cy="139265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0957925" y="78260"/>
            <a:ext cx="13926533" cy="139265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028700" y="2391852"/>
          <a:ext cx="6729598" cy="7048500"/>
        </p:xfrm>
        <a:graphic>
          <a:graphicData uri="http://schemas.openxmlformats.org/drawingml/2006/table">
            <a:tbl>
              <a:tblPr/>
              <a:tblGrid>
                <a:gridCol w="1114406"/>
                <a:gridCol w="1870207"/>
                <a:gridCol w="3744986"/>
              </a:tblGrid>
              <a:tr h="8044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Orden de prioridad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Requerimiento funcional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Historias de usuario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</a:tr>
              <a:tr h="8044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R12: Actualizar reporte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HU14.1: Actualizar pedido</a:t>
                      </a:r>
                      <a:endParaRPr lang="en-US" sz="1100"/>
                    </a:p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HU15.1: Actualizar observación 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1875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R6: Perfil maquila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HU5.1: Modificación de campo en perfil </a:t>
                      </a:r>
                      <a:endParaRPr lang="en-US" sz="1100"/>
                    </a:p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HU18.1: Modificación rango de mermas</a:t>
                      </a:r>
                    </a:p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HU17.1: Estadística de pedidos</a:t>
                      </a:r>
                    </a:p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HU7.1: Historial de pedidos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129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R15: Detalle pedido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HU16.1: Ver pedido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044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R9: Realizar orden de compra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HU8.1: Crear pedido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044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R5: Perfil de usuario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HU5.1: Modificación de campo en perfil </a:t>
                      </a:r>
                      <a:endParaRPr lang="en-US" sz="1100"/>
                    </a:p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HU7.1: Historial de pedidos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044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R4: Iniciar sesión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HU2.1: Login </a:t>
                      </a:r>
                      <a:endParaRPr lang="en-US" sz="1100"/>
                    </a:p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HU4.1: Recuperar contraseña 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129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R3: Crear cuenta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HU1.1: Crear cuenta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129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R7: Cerrar sesión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HU3.1: Cerrar sesión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4502133" y="952500"/>
            <a:ext cx="9283734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Priorización Backlog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0352892" y="2391852"/>
          <a:ext cx="6729598" cy="6210300"/>
        </p:xfrm>
        <a:graphic>
          <a:graphicData uri="http://schemas.openxmlformats.org/drawingml/2006/table">
            <a:tbl>
              <a:tblPr/>
              <a:tblGrid>
                <a:gridCol w="1075143"/>
                <a:gridCol w="2174490"/>
                <a:gridCol w="3479965"/>
              </a:tblGrid>
              <a:tr h="8050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Orden de prioridad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Requerimiento funcional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Historias de usuario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</a:tr>
              <a:tr h="7283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R11: Iniciar pedido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HU11.1: Iniciar pedido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035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R8: Búsqueda de empresa maquila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HU13.1: Barra de búsqueda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050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R14: Gestión de administrador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HU6.1: Modificación perfil de otro usuario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050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R10: Aceptar/Rechazar pedido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HU9.1: Rechazar pedido</a:t>
                      </a:r>
                      <a:endParaRPr lang="en-US" sz="1100"/>
                    </a:p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HU10.1: Aceptar pedido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133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R2: Menú principal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HU13.1: Barra de búsqueda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133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R13: Terminar pedido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HU12.1: Finalizar pedido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050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R1: Cabecera/Pie de página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HU19.1: Navegación navbar (lista empresas)</a:t>
                      </a:r>
                      <a:endParaRPr lang="en-US" sz="1100"/>
                    </a:p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HU20.1: Navegación footer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39798" y="-3977874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10523" y="1974394"/>
            <a:ext cx="4041346" cy="6946063"/>
          </a:xfrm>
          <a:custGeom>
            <a:avLst/>
            <a:gdLst/>
            <a:ahLst/>
            <a:cxnLst/>
            <a:rect r="r" b="b" t="t" l="l"/>
            <a:pathLst>
              <a:path h="6946063" w="4041346">
                <a:moveTo>
                  <a:pt x="0" y="0"/>
                </a:moveTo>
                <a:lnTo>
                  <a:pt x="4041346" y="0"/>
                </a:lnTo>
                <a:lnTo>
                  <a:pt x="4041346" y="6946063"/>
                </a:lnTo>
                <a:lnTo>
                  <a:pt x="0" y="69460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10540" y="1537621"/>
            <a:ext cx="7695500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Próximos pasos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10540" y="3166948"/>
            <a:ext cx="7140408" cy="525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4" indent="-377822" lvl="1">
              <a:lnSpc>
                <a:spcPts val="8504"/>
              </a:lnSpc>
              <a:buFont typeface="Arial"/>
              <a:buChar char="•"/>
            </a:pPr>
            <a:r>
              <a:rPr lang="en-US" sz="3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Desarrollar plan de pruebas</a:t>
            </a:r>
          </a:p>
          <a:p>
            <a:pPr algn="l" marL="755644" indent="-377822" lvl="1">
              <a:lnSpc>
                <a:spcPts val="8504"/>
              </a:lnSpc>
              <a:buFont typeface="Arial"/>
              <a:buChar char="•"/>
            </a:pPr>
            <a:r>
              <a:rPr lang="en-US" sz="3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Sprint planning</a:t>
            </a:r>
          </a:p>
          <a:p>
            <a:pPr algn="l" marL="755644" indent="-377822" lvl="1">
              <a:lnSpc>
                <a:spcPts val="8504"/>
              </a:lnSpc>
              <a:buFont typeface="Arial"/>
              <a:buChar char="•"/>
            </a:pPr>
            <a:r>
              <a:rPr lang="en-US" sz="3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Construir modelo base de datos</a:t>
            </a:r>
          </a:p>
          <a:p>
            <a:pPr algn="l" marL="755644" indent="-377822" lvl="1">
              <a:lnSpc>
                <a:spcPts val="8504"/>
              </a:lnSpc>
              <a:buFont typeface="Arial"/>
              <a:buChar char="•"/>
            </a:pPr>
            <a:r>
              <a:rPr lang="en-US" sz="3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Modelo de arquitectura</a:t>
            </a:r>
          </a:p>
          <a:p>
            <a:pPr algn="l" marL="755644" indent="-377822" lvl="1">
              <a:lnSpc>
                <a:spcPts val="8504"/>
              </a:lnSpc>
              <a:buFont typeface="Arial"/>
              <a:buChar char="•"/>
            </a:pPr>
            <a:r>
              <a:rPr lang="en-US" sz="3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Modelo relacional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46461" y="-1821184"/>
            <a:ext cx="13926533" cy="139265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77908" y="3197598"/>
            <a:ext cx="3290620" cy="5307452"/>
          </a:xfrm>
          <a:custGeom>
            <a:avLst/>
            <a:gdLst/>
            <a:ahLst/>
            <a:cxnLst/>
            <a:rect r="r" b="b" t="t" l="l"/>
            <a:pathLst>
              <a:path h="5307452" w="3290620">
                <a:moveTo>
                  <a:pt x="0" y="0"/>
                </a:moveTo>
                <a:lnTo>
                  <a:pt x="3290620" y="0"/>
                </a:lnTo>
                <a:lnTo>
                  <a:pt x="3290620" y="5307452"/>
                </a:lnTo>
                <a:lnTo>
                  <a:pt x="0" y="5307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98711" y="2645506"/>
            <a:ext cx="4084408" cy="5942921"/>
          </a:xfrm>
          <a:custGeom>
            <a:avLst/>
            <a:gdLst/>
            <a:ahLst/>
            <a:cxnLst/>
            <a:rect r="r" b="b" t="t" l="l"/>
            <a:pathLst>
              <a:path h="5942921" w="4084408">
                <a:moveTo>
                  <a:pt x="0" y="0"/>
                </a:moveTo>
                <a:lnTo>
                  <a:pt x="4084408" y="0"/>
                </a:lnTo>
                <a:lnTo>
                  <a:pt x="4084408" y="5942922"/>
                </a:lnTo>
                <a:lnTo>
                  <a:pt x="0" y="5942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525831" y="4516438"/>
            <a:ext cx="6767792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Conclusiones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9698" y="-1921798"/>
            <a:ext cx="14130596" cy="1413059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7530" y="979413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7" y="0"/>
                </a:lnTo>
                <a:lnTo>
                  <a:pt x="2428427" y="824815"/>
                </a:lnTo>
                <a:lnTo>
                  <a:pt x="0" y="824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18920" y="3490215"/>
            <a:ext cx="5650161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Muchas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0839" y="4827246"/>
            <a:ext cx="5446323" cy="1717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0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DAHT62QqNxs</dc:identifier>
  <dcterms:modified xsi:type="dcterms:W3CDTF">2011-08-01T06:04:30Z</dcterms:modified>
  <cp:revision>1</cp:revision>
  <dc:title>PPT_Fase1CAPSTONE</dc:title>
</cp:coreProperties>
</file>